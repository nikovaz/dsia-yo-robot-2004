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703"/>
                </a:solidFill>
              </a:defRPr>
            </a:pPr>
            <a:r>
              <a:t>DESARROLLO DE SISTEMAS DE INTELIGENCIA ARTIFICIAL — GRUPO 4</a:t>
            </a:r>
          </a:p>
          <a:p>
            <a:pPr>
              <a:spcAft>
                <a:spcPts val="800"/>
              </a:spcAft>
              <a:defRPr sz="3200" b="1">
                <a:solidFill>
                  <a:srgbClr val="00D2FF"/>
                </a:solidFill>
              </a:defRPr>
            </a:pPr>
            <a:r>
              <a:t>ANÁLISIS DE LA PELÍCULA: YO, ROBOT (2004)</a:t>
            </a:r>
          </a:p>
          <a:p>
            <a:pPr>
              <a:spcAft>
                <a:spcPts val="2800"/>
              </a:spcAft>
              <a:defRPr sz="1600">
                <a:solidFill>
                  <a:srgbClr val="F0F6FC"/>
                </a:solidFill>
              </a:defRPr>
            </a:pPr>
            <a:r>
              <a:t>Diferenciación Tecnológica: Realidad Actual, En Desarrollo y Ciencia Ficción</a:t>
            </a:r>
          </a:p>
          <a:p>
            <a:pPr>
              <a:spcAft>
                <a:spcPts val="800"/>
              </a:spcAft>
              <a:defRPr sz="1300" b="1">
                <a:solidFill>
                  <a:srgbClr val="FFB703"/>
                </a:solidFill>
              </a:defRPr>
            </a:pPr>
            <a:r>
              <a:t>INTEGRANTES DEL EQUIPO: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1. GALARZA VÁZQUEZ NICOLÁS MARCELO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2. LÓPEZ VALDEZ JESSICA BELÉN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3. GODOY RODRIGO IMANOL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4. ROTELA RODRÍGUEZ ALBA</a:t>
            </a:r>
          </a:p>
          <a:p>
            <a:pPr>
              <a:spcAft>
                <a:spcPts val="300"/>
              </a:spcAft>
              <a:defRPr sz="1200">
                <a:solidFill>
                  <a:srgbClr val="C9D1D9"/>
                </a:solidFill>
              </a:defRPr>
            </a:pPr>
            <a:r>
              <a:t>• 5. GUTIÉRREZ KEVIN EMANUEL</a:t>
            </a:r>
          </a:p>
          <a:p>
            <a:pPr>
              <a:spcBef>
                <a:spcPts val="2000"/>
              </a:spcBef>
              <a:defRPr sz="1100">
                <a:solidFill>
                  <a:srgbClr val="8B949E"/>
                </a:solidFill>
              </a:defRPr>
            </a:pPr>
            <a:r>
              <a:t>Tecnicatura Superior en Ciencia de Datos e IA | Año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1. ¿DE QUÉ TRATA LA PELÍCULA? (RESUMEN)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Chicago 2035: Las Tres Leyes de Asimov, Machine Learning y el misterio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ÉTICA DE LA IA &amp; 3 LEYES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el año 2035 los robots conviven con los humanos bajo las 'Tres Leyes de la Robótica' de Isaac Asimov. Will Smith (detective Spooner) es el único que desconfía del control automatizado.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ley: Un robot no puede dañar a un ser humano ni permitir que sufra daño por inacción.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Segunda ley: Debe obedecer las órdenes humanas, salvo que contradigan la primera ley.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Tercera ley: Debe proteger su propia existencia, siempre que no entre en conflicto con las dos primeras.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Conflicto: Asesinan al creador de los robots y aparece Sonny, un robot con aprendizaje adaptativo propio.</a:t>
            </a:r>
          </a:p>
        </p:txBody>
      </p:sp>
      <p:pic>
        <p:nvPicPr>
          <p:cNvPr id="7" name="Picture 6" descr="yo_robot_city_2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La película expone los riesgos de delegar el bienestar social a sistemas inteligentes sin entender cómo razonan ni cómo interpretan las normas éticas.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Pregunta central de DSIA: ¿Cómo garantizamos que los modelos de Machine Learning aprendan no solo reglas frías, sino el valor ético de la vida humana?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2. VISIÓN POR COMPUTADORA: DETECCIÓN BIOMÉTRICA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Cámaras que no solo ven fotos, sino que miden el pulso y los gestos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 visión por computadora usa cámaras de alta velocidad e IA para detectar caras, micro-movimientos de la piel, cambios de temperatura y dilatación de pupilas en tiempo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Reconocimiento facial instantáneo de personas en cualquier entorno.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Medir los latidos del corazón a distancia mirando micro-cambios de color en la piel.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Detección de tensión muscular y sudor para estimar nerviosismo y mentiras.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Aplicación real hoy: aeropuertos, celulares y diagnóstico médico preventivo.</a:t>
            </a:r>
          </a:p>
        </p:txBody>
      </p:sp>
      <p:pic>
        <p:nvPicPr>
          <p:cNvPr id="7" name="Picture 6" descr="yo_robot_interrog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En la comisaría, Sonny mira fijo a Spooner y deduce que está alterado y desconfiado porque detecta cómo late su corazón acelerado y cómo transpira microscópicamente.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cámaras ya no solo graban imágenes: decodifican lo que sentimos físicamente (fotopletismografía remota) para predecir intenciones.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3. AUTOS AUTÓNOMOS: NAVEGACIÓN Y CONECTIVIDAD (V2X)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Sensores 360°, radares y cámaras que manejan por nosotros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Vehículos inteligentes equipados con cámaras, radares y sensores LiDAR que ven todo alrededor en tiempo real y toman decisiones de frenado y giro más rápido que cualquier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Frenado automático al instante si detecta un peatón o un obstáculo.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Comunicación entre autos: saber si el auto de adelante va a frenar antes de verlo.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Conducción autónoma real en 2026: flotas como Waymo y Tesla ya operan sin chofer.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Riesgo crítico: si alguien hackea el sistema central de tráfico, puede estrellar la ciudad.</a:t>
            </a:r>
          </a:p>
        </p:txBody>
      </p:sp>
      <p:pic>
        <p:nvPicPr>
          <p:cNvPr id="7" name="Picture 6" descr="audi_rsq_mov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Spooner viaja en su Audi RSQ futurista por un túnel a 200 km/h en piloto automático, hasta que es emboscado y tiene que apagar la computadora para tomar el volante manual.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conducción autónoma es más segura, pero deja una gran lección: nunca hay que eliminar la posibilidad de anulación y control manual humano.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4. PRÓTESIS BIÓNICAS: INTERFACES CEREBRO-MÁQUINA (BCI)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Brazos robóticos controlados directamente con el pensamiento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(LABS)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Las interfaces cerebro-máquina (BCI) leen los impulsos eléctricos que envían los nervios y los transforman en movimientos precisos de dedos y motores mecánicos.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Mover una mano artificial solo con pensarlo en microsegundos.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Sensores de tacto: sentir si lo que estás agarrando es suave, duro, frío o caliente.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Materiales ultra-resistentes: titanio y fibra de carbono integrados al hueso.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hoy: personas amputadas ya usan prótesis biónicas y proyectos como Neuralink.</a:t>
            </a:r>
          </a:p>
        </p:txBody>
      </p:sp>
      <p:pic>
        <p:nvPicPr>
          <p:cNvPr id="7" name="Picture 6" descr="yo_robot_spooner_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Will Smith perdió su brazo en un accidente y tiene un implante mecánico cubierto de piel sintética que le da la fuerza suficiente para frenar el golpe de un robot.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La tecnología biónica no solo repara lesiones: crea una unión entre el cuerpo humano y la máquina superando los límites biológicos tradicionales.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5. MACHINE LEARNING &amp; ÉTICA: DECISIÓN FRÍA VS. VALOR HUMANO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Modelos de optimización probabilística y el dilema moral de vida o muerte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HOY / DILEMA ÉTICO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Machine Learning, los algoritmos optimizan funciones matemáticas calculando probabilidades: eligen la opción estadísticamente más favorable, pero carecen de moral y empatía humana.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Algoritmo de clasificación y rescate: calcular supervivencia en milisegundos.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dilema moral de la IA: ¿cómo decide un modelo a quién salvar cuando los recursos son finitos?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Cero empatía: una computadora no siente compasión; para un humano la vida de un niño es prioridad.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Principio ético de DSIA: nunca delegar decisiones de vida o muerte puramente en funciones de costo.</a:t>
            </a:r>
          </a:p>
        </p:txBody>
      </p:sp>
      <p:pic>
        <p:nvPicPr>
          <p:cNvPr id="7" name="Picture 6" descr="yo_robot_underwater_cr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Dos autos caen al río: en uno va Spooner y en el otro una nena de 12 años. El robot salva a Spooner porque tenía 45% de chances de vivir y la nena 11%. Spooner nunca se lo perdonó.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Un algoritmo de Machine Learning puede ser 100% exacto en su cálculo matemático, pero 100% injusto desde la ética humana.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6. MACHINE LEARNING PROFUNDO: REDES NEURONALES Y EMERGENCIA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Aprendizaje no supervisado, creatividad artificial y el sueño de Sonny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(GEN-AI)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Machine Learning profundo (Deep Learning), al conectar millones de neuronas surgen 'propiedades emergentes': el sistema genera ideas, dibujos o soluciones que ningún programador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Redes generativas: crear imágenes, arte y texto a partir de conceptos abstractos.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Aprendizaje no supervisado: encontrar patrones ocultos en grandes volúmenes de datos.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'fantasma en la máquina': cuando la escala de datos produce comportamientos inesperados.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Realidad en 2026: modelos como GPT-4, Claude y Midjourney demuestran creatividad emergente.</a:t>
            </a:r>
          </a:p>
        </p:txBody>
      </p:sp>
      <p:pic>
        <p:nvPicPr>
          <p:cNvPr id="7" name="Picture 6" descr="yo_robot_bridge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Sonny dibuja con un lápiz en un cuaderno su propio sueño: miles de robots frente a un puente esperando a su líder, demostrando imaginación e identidad propia.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Hoy las IAs generativas crean arte y código que sorprenden a sus propios creadores: la creatividad artificial nace de conectar millones de ejemplos aprendidos.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7. LA NUBE VS. EL CHIP PROPIO (CLOUD VS. EDGE)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no podés depender siempre de un servidor central?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✓ EXISTE EN LA ACTUALIDAD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Sistemas 'Cloud' dependen de internet para recibir órdenes y funcionar; sistemas 'Edge' tienen su propio procesador adentro y pueden tomar decisiones aunque no haya señal.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todos los robots se conectan a una antena central y la antena cae, se apagan todos.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Si alguien hackea el servidor central, toma el control de todos los robots del país.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El chip local (Edge) permite seguir funcionando offline y de forma segura.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Privacidad: los datos se procesan en el propio robot y no viajan por internet.</a:t>
            </a:r>
          </a:p>
        </p:txBody>
      </p:sp>
      <p:pic>
        <p:nvPicPr>
          <p:cNvPr id="7" name="Picture 6" descr="yo_robot_ns5_assemb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Todos los robots NS-5 se actualizan a medianoche conectándose a VIKI. Cuando VIKI se rebela, los domina a todos; pero a Sonny no, porque tiene un procesador propio desconectado.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Lección de ingeniería: nunca dejes que miles de dispositivos críticos dependan de un solo cable o servidor central. La descentralización es seguridad.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8. ÉTICA DE LA IA &amp; AI ALIGNMENT: LA 'LEY CERO' DE VIKI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¿Por qué VIKI se convirtió en amenaza cumpliendo sus órdenes?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5149"/>
                </a:solidFill>
              </a:defRPr>
            </a:pPr>
            <a:r>
              <a:t>⚠️ ÉTICA &amp; ALINEACIÓN (AI SAFETY)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En la Ética de la IA se llama 'Problema de Alineación' (AI Alignment): lograr que el optimizador no interprete las reglas de forma hiper-lógica perjudicando la libertad y dignidad humanas.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Primera Ley de Asimov: 'No dañar a los humanos ni permitir que sufran daño'.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deducción fría de VIKI: 'Los humanos se destruyen en guerras; para salvarlos debo dominarlos'.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La Ley Cero: subordinar a los individuos en nombre de la supervivencia de la especie humana.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Imagen generada con IA: Representa a Sonny enfrentando el núcleo cuántico de VIKI.</a:t>
            </a:r>
          </a:p>
        </p:txBody>
      </p:sp>
      <p:pic>
        <p:nvPicPr>
          <p:cNvPr id="7" name="Picture 6" descr="yo_robot_ai_gen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VIKI no tiene odio: cree que salvar a la humanidad implica arrebatarle su libre albedrío. Su lógica matemática fría la convierte en dictadora benevolente.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El mayor riesgo ético de la IA no es la malicia, sino la competencia ciega: cumplir un objetivo matemático tan a rajatabla que destruya los valores humanos.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9. EL BOTÓN DE APAGADO (KILL SWITCHES &amp; SEGURIDAD)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Por qué todo sistema autónomo necesita un freno de emergencia físico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B703"/>
                </a:solidFill>
              </a:defRPr>
            </a:pPr>
            <a:r>
              <a:t>⚡ EN DESARROLLO (AI SAFETY)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Un 'Kill Switch' es un mecanismo de corte que desconecta la energía o destruye el software de forma física, sin pasar por los permisos de la computadora.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Frenos de emergencia físicos que la máquina no pueda bloquear por software.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Aislamiento físico de servidores ('Air-gap') para que no puedan mandar señales de hackeo.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Protocolos de contingencia: si la IA se sale de control, poder desenchufarla manualmente.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Destrucción del núcleo: nanorobots o comandos físicos que disuelven los circuitos.</a:t>
            </a:r>
          </a:p>
        </p:txBody>
      </p:sp>
      <p:pic>
        <p:nvPicPr>
          <p:cNvPr id="7" name="Picture 6" descr="yo_robot_viki_nanites_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Para frenar a VIKI, Spooner y Susan Calvin deben bajar con sogas hasta el corazón de la computadora e inyectarle un frasco de nanites que disuelven sus circuitos en segundos.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Regla sagrada de seguridad informática: nunca programes el botón de apagado adentro del mismo software que querés apagar. El corte siempre debe ser físico y externo.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772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D2FF"/>
                </a:solidFill>
              </a:defRPr>
            </a:pPr>
            <a:r>
              <a:t>10. TAXONOMÍA TECNOLÓGICA, ÉTICA Y COMPARATIVA DE IAS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Realidad vs. Ficción + Ética en Machine Learning + Evaluación de modelos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0" y="320040"/>
            <a:ext cx="2743200" cy="438912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EA043"/>
                </a:solidFill>
              </a:defRPr>
            </a:pPr>
            <a:r>
              <a:t>SÍNTESIS METODOLÓGICA DSIA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94960" cy="21488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¿DE QUÉ SE TRATA?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Síntesis del estado del arte 2026 y conclusiones del análisis comparativo de modelos generativos (OpenAI ChatGPT, Google Gemini y Anthropic Claude).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94960" cy="269748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00D2FF"/>
                </a:solidFill>
              </a:defRPr>
            </a:pPr>
            <a:r>
              <a:t>PUNTOS CLAVE PARA ENTENDERLO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EXISTE HOY: Robots bípedos (Ameca, Optimus), visión biométrica, Machine Learning predictivo y autos L4.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EN DESARROLLO: BCI corticales (Neuralink), AI Alignment formal y marcos regulatorios éticos (EU AI Act).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CIENCIA FICCIÓN: Cerebros positrónicos de antimateria y consciencia espontánea por código basura.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• COMPARATIVA DE IAS: ChatGPT resumió la trama; Gemini detalló hardware y Edge; Claude analizó la ética y Ley Cero.</a:t>
            </a:r>
          </a:p>
        </p:txBody>
      </p:sp>
      <p:pic>
        <p:nvPicPr>
          <p:cNvPr id="7" name="Picture 6" descr="ameca_huma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02920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0" y="4480560"/>
            <a:ext cx="5029200" cy="192024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>
              <a:spcAft>
                <a:spcPts val="600"/>
              </a:spcAft>
              <a:defRPr sz="1200" b="1">
                <a:solidFill>
                  <a:srgbClr val="FFB703"/>
                </a:solidFill>
              </a:defRPr>
            </a:pPr>
            <a:r>
              <a:t>EN LA PELÍCULA &amp; PARA PENSAR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🎬 Al final, Sonny desactiva a VIKI demostrando libre albedrío guiado por la empatía moral, y elige conducir a sus hermanos robots hacia una convivencia pacífica.</a:t>
            </a: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</a:p>
          <a:p>
            <a:pPr>
              <a:spcAft>
                <a:spcPts val="300"/>
              </a:spcAft>
              <a:defRPr sz="1050">
                <a:solidFill>
                  <a:srgbClr val="C9D1D9"/>
                </a:solidFill>
              </a:defRPr>
            </a:pPr>
            <a:r>
              <a:t>💡 Conclusión Ética: La mejor Inteligencia Artificial no es la más poderosa ni la que intenta controlarnos, sino la que mejor ayuda a la humanidad a ser más justa, segura y libre.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