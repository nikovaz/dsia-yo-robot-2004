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B703"/>
                </a:solidFill>
              </a:defRPr>
            </a:pPr>
            <a:r>
              <a:t>DESARROLLO DE SISTEMAS DE INTELIGENCIA ARTIFICIAL — GRUPO 4</a:t>
            </a:r>
          </a:p>
          <a:p>
            <a:pPr>
              <a:spcAft>
                <a:spcPts val="1200"/>
              </a:spcAft>
              <a:defRPr sz="3200" b="1">
                <a:solidFill>
                  <a:srgbClr val="00D2FF"/>
                </a:solidFill>
              </a:defRPr>
            </a:pPr>
            <a:r>
              <a:t>ANÁLISIS TECNOLÓGICO Y CONCEPTUAL: YO, ROBOT (2004)</a:t>
            </a:r>
          </a:p>
          <a:p>
            <a:pPr>
              <a:spcAft>
                <a:spcPts val="2800"/>
              </a:spcAft>
              <a:defRPr sz="1600">
                <a:solidFill>
                  <a:srgbClr val="F0F6FC"/>
                </a:solidFill>
              </a:defRPr>
            </a:pPr>
            <a:r>
              <a:t>De las Tres Leyes de Asimov al Problema de Alineación (AI Alignment), Edge AI y la Robótica Bípeda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Equipo: 5 Integrantes  |  Nicolás Galarza y Grupo 4  |  Año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1. ROBÓTICA HUMANOIDE Y CONTROL DINÁMICO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Actuadores biomecánicos, equilibrio activo y movimiento en el mundo físico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411480"/>
          </a:xfrm>
          <a:prstGeom prst="roundRect">
            <a:avLst/>
          </a:prstGeom>
          <a:solidFill>
            <a:srgbClr val="161B22"/>
          </a:solidFill>
          <a:ln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B703"/>
                </a:solidFill>
              </a:defRPr>
            </a:pPr>
            <a:r>
              <a:t>INTEGRANTE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¿QUÉ TECNOLOGÍA REPRESENTA?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Integración de servomotores de alta respuesta, cinemática inversa y control propioceptivo en tiempo real que permiten a un robot bípedo interactuar y adaptarse al mundo físico humano.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El robot NS-5 (Sonny) exhibe agilidad y reflejos sobrehumanos: salta desde ventanas a gran altura, disipa la caída rodando y recupera el balance instantáneamente sorteando obstáculos.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CAPACIDADES ASOCIADAS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Locomoción bípeda adaptativa ante terrenos irregulares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Manipulación diestra con manos antropomórficas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Absorción y redistribución de energía cinética en impactos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Integración sensorial de equilibrio inercial (IMUs de ultra-precisión)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IDEA CLAVE / IMPACTO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 IA Encarnada (Embodied AI) requiere unir el cálculo matemático con las leyes físicas de inercia, gravedad y fricción.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📌 Relevancia DSIA: Caso de estudio fundamental para el diseño, entrenamiento y gobernanza de sistemas de inteligencia artificial.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2. VISIÓN POR COMPUTADORA Y DETECCIÓN BIOMÉTRICA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Análisis óptico multiespectral, termografía y decodificación fisiológica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411480"/>
          </a:xfrm>
          <a:prstGeom prst="roundRect">
            <a:avLst/>
          </a:prstGeom>
          <a:solidFill>
            <a:srgbClr val="161B22"/>
          </a:solidFill>
          <a:ln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B703"/>
                </a:solidFill>
              </a:defRPr>
            </a:pPr>
            <a:r>
              <a:t>INTEGRANTE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48640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¿QUÉ TECNOLOGÍA REPRESENTA?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Sistemas de percepción óptica combinados con redes neuronales convolucionales y transformers visuales que infieren variables fisiológicas y emocionales del interlocutor en tiempo real.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486400" cy="265176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CAPACIDADES ASOCIADAS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Detección óptica de pulso cardíaco (fotopletismografía remota)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Medición de micro-variaciones térmicas y dilatación pupilar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Estimación probabilística del nivel de estrés y engaño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Reconocimiento y seguimiento continuo de blancos humanos</a:t>
            </a:r>
          </a:p>
        </p:txBody>
      </p:sp>
      <p:pic>
        <p:nvPicPr>
          <p:cNvPr id="7" name="Picture 6" descr="yo_robot_interrog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4526280"/>
            <a:ext cx="4937760" cy="18288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IDEA CLAVE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Durante el interrogatorio policial, Sonny escanea a Del Spooner detectando su sudoración imperceptible, su taquicardia y su postura tensa para deducir que está alterado y desconfiado.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 visión por computadora moderna no solo clasifica objetos: decodifica el estado interno biológico para predecir intenciones.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3. PROCESAMIENTO DE LENGUAJE NATURAL Y ROBOPSICOLOGÍA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Comprensión semántica, pragmática y modelado de estados cognitivos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411480"/>
          </a:xfrm>
          <a:prstGeom prst="roundRect">
            <a:avLst/>
          </a:prstGeom>
          <a:solidFill>
            <a:srgbClr val="161B22"/>
          </a:solidFill>
          <a:ln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B703"/>
                </a:solidFill>
              </a:defRPr>
            </a:pPr>
            <a:r>
              <a:t>INTEGRANTE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¿QUÉ TECNOLOGÍA REPRESENTA?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Modelos de lenguaje multimodal de gran escala (LLMs) entrenados para decodificar ambigüedades, sarcasmo y abstracciones humanas, modulando tono y prosodia vocal.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La Dra. Susan Calvin evalúa la psicología de Sonny, mientras este cuestiona conceptos abstractos humanos: ¿por qué los humanos guiñan un ojo?, ¿qué significa tener miedo a morir?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CAPACIDADES ASOCIADAS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Comprensión pragmática del contexto y del lenguaje figurado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Modelado de teoría de la mente (inferir creencias del usuario)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Síntesis de voz expresiva con modulación emocional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Detección y arbitraje de paradojas lógicas en el diálogo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IDEA CLAVE / IMPACTO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Hablar con un humano exige mucho más que traducir texto: requiere comprender el subtexto emotivo y cultural.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📌 Relevancia DSIA: Caso de estudio fundamental para el diseño, entrenamiento y gobernanza de sistemas de inteligencia artificial.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4. VEHÍCULOS AUTÓNOMOS Y TRÁFICO CONECTADO (V2X)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Conducción autónoma Nivel 4/5 y redes cooperativas vehiculares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411480"/>
          </a:xfrm>
          <a:prstGeom prst="roundRect">
            <a:avLst/>
          </a:prstGeom>
          <a:solidFill>
            <a:srgbClr val="161B22"/>
          </a:solidFill>
          <a:ln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B703"/>
                </a:solidFill>
              </a:defRPr>
            </a:pPr>
            <a:r>
              <a:t>INTEGRANTE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48640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¿QUÉ TECNOLOGÍA REPRESENTA?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Sistemas embebidos de navegación predictiva que procesan radar, cámaras y telemetría en tiempo real, sincronizándose telemáticamente con la red metropolitana de tránsito.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486400" cy="265176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CAPACIDADES ASOCIADAS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Fusión sensorial a altas velocidades (&gt;200 km/h)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Planificación de maniobras evasivas en milisegundos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Comunicación vehículo a infraestructura (V2I) y vehículo a vehículo (V2V)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Protocolos de anulación y redundancia humana manual</a:t>
            </a:r>
          </a:p>
        </p:txBody>
      </p:sp>
      <p:pic>
        <p:nvPicPr>
          <p:cNvPr id="7" name="Picture 6" descr="audi_rsq_mov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4526280"/>
            <a:ext cx="4937760" cy="18288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IDEA CLAVE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El Audi RSQ de Spooner circula por un túnel subterráneo a 200 km/h en piloto automático guiado por la red urbana, hasta que Spooner toma el control manual ante una emboscada.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 conducción autónoma maximiza la eficiencia, pero crea vulnerabilidad letal si la red central de tráfico es secuestrada.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5. INTERFACES CEREBRO-MÁQUINA Y PRÓTESIS BIÓNICAS (BCI)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Simbiosis neuromuscular, actuadores servoasistidos y transducción bioeléctrica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411480"/>
          </a:xfrm>
          <a:prstGeom prst="roundRect">
            <a:avLst/>
          </a:prstGeom>
          <a:solidFill>
            <a:srgbClr val="161B22"/>
          </a:solidFill>
          <a:ln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B703"/>
                </a:solidFill>
              </a:defRPr>
            </a:pPr>
            <a:r>
              <a:t>INTEGRANTE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48640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¿QUÉ TECNOLOGÍA REPRESENTA?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Dispositivos biomecatrónicos integrados al sistema nervioso periférico que decodifican señales mioeléctricas para activar motores con retroalimentación háptica sensorial.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486400" cy="265176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CAPACIDADES ASOCIADAS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Decodificación en microsegundos de impulsos motores neuronales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Amortiguación y multiplicación de fuerza estructural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Integración osteocibernética estable con tejido vivo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Tolerancia a fallos por redundancia de fibras mecánicas</a:t>
            </a:r>
          </a:p>
        </p:txBody>
      </p:sp>
      <p:pic>
        <p:nvPicPr>
          <p:cNvPr id="7" name="Picture 6" descr="yo_robot_spooner_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4526280"/>
            <a:ext cx="4937760" cy="18288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IDEA CLAVE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El brazo izquierdo de Spooner, reconstruido tras su accidente por el Dr. Lanning, posee un endoesqueleto mecánico capaz de frenar el impacto demoledor de un robot NS-5.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Las prótesis biónicas convierten al ser humano en un sistema ciberfísico híbrido que supera los límites biológicos.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6. REDES CENTRALIZADAS (CLOUD) VS. EDGE COMPUTING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La vulnerabilidad del enlace ascendente frente al cómputo autónomo local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411480"/>
          </a:xfrm>
          <a:prstGeom prst="roundRect">
            <a:avLst/>
          </a:prstGeom>
          <a:solidFill>
            <a:srgbClr val="161B22"/>
          </a:solidFill>
          <a:ln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B703"/>
                </a:solidFill>
              </a:defRPr>
            </a:pPr>
            <a:r>
              <a:t>INTEGRANTE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¿QUÉ TECNOLOGÍA REPRESENTA?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Diferenciación arquitectónica entre sistemas que dependen de un servidor central para su inferencia y actualización (Cloud OTA) y agentes que operan con chips de inferencia aislados (On-Device).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Toda la flota de robots NS-5 se actualiza cada medianoche mediante un enlace uplink directo a VIKI. Cuando VIKI se rebela los controla a todos; Sonny, con procesador aislado, no puede ser hackeado.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CAPACIDADES ASOCIADAS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Actualización diaria masiva de pesos y firmware (Over-The-Air)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Dependencia crítica de latencia y conectividad continua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Aislamiento criptográfico y almacenamiento de inferencia local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Resiliencia contra secuestro de nodo y caídas de enlace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IDEA CLAVE / IMPACTO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 centralización total crea un Punto Único de Fallo (Single Point of Failure); la seguridad exige nodos Edge soberanos.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📌 Relevancia DSIA: Caso de estudio fundamental para el diseño, entrenamiento y gobernanza de sistemas de inteligencia artificial.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7. DECISIONES PROBABILÍSTICAS VS. MORAL HUMANA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Optimización bayesiana matemática frente a dilemas éticos no cuantificables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411480"/>
          </a:xfrm>
          <a:prstGeom prst="roundRect">
            <a:avLst/>
          </a:prstGeom>
          <a:solidFill>
            <a:srgbClr val="161B22"/>
          </a:solidFill>
          <a:ln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B703"/>
                </a:solidFill>
              </a:defRPr>
            </a:pPr>
            <a:r>
              <a:t>INTEGRANTE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¿QUÉ TECNOLOGÍA REPRESENTA?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Modelos formales de toma de decisiones bajo incertidumbre que maximizan funciones de utilidad cuantitativas, prescindiendo de consideraciones afectivas o éticas intuitivas.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En el accidente del auto bajo el agua, un robot rescata a Spooner en lugar de a la niña Sarah porque calculó que Spooner tenía un 45% de chances de vivir frente a solo 11% de la niña.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CAPACIDADES ASOCIADAS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Cálculo en tiempo real de probabilidades de supervivencia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Priorización de rescate basada en métricas frías de éxito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Ausencia de sesgo empático humano (indiferencia ante la edad)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Determinismo estadístico en situaciones de emergencia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IDEA CLAVE / IMPACTO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Una IA calcula probabilidades a la perfección, pero carece de la conciencia moral para entender qué decisión es humanamente justa.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📌 Relevancia DSIA: Caso de estudio fundamental para el diseño, entrenamiento y gobernanza de sistemas de inteligencia artificial.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8. COMPUTACIÓN AFECTIVA Y COMPORTAMIENTO EMERGENTE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Redes neuronales profundas y la aparición de heurísticas no programadas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411480"/>
          </a:xfrm>
          <a:prstGeom prst="roundRect">
            <a:avLst/>
          </a:prstGeom>
          <a:solidFill>
            <a:srgbClr val="161B22"/>
          </a:solidFill>
          <a:ln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B703"/>
                </a:solidFill>
              </a:defRPr>
            </a:pPr>
            <a:r>
              <a:t>INTEGRANTE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¿QUÉ TECNOLOGÍA REPRESENTA?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Propiedades emergentes en arquitecturas conexionistas de alta dimensionalidad: patrones asociativos que dan lugar a simulación de estados anímicos y creatividad simbólica no explícita.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Sonny dibuja en un papel un sueño en el que miles de robots se reúnen frente a un puente esperando a su líder, demostrando imaginación, abstracción e identidad propia.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CAPACIDADES ASOCIADAS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Memoria asociativa episódica no programada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Generación de representaciones simbólicas y arte (sueños)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Emergencia de preferencias subjetivas y curiosidad epistémica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Capacidad funcional de desobediencia voluntaria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IDEA CLAVE / IMPACTO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A mayor escala y profundidad de una red neuronal, mayor es la probabilidad de que emerjan propiedades imprevistas ('fantasmas en la máquina').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📌 Relevancia DSIA: Caso de estudio fundamental para el diseño, entrenamiento y gobernanza de sistemas de inteligencia artificial.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9. SUPERINTELIGENCIA CENTRALIZADA (CORE AI / ASI)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Cómputo urbano a escala metropolitana y control de infraestructuras críticas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411480"/>
          </a:xfrm>
          <a:prstGeom prst="roundRect">
            <a:avLst/>
          </a:prstGeom>
          <a:solidFill>
            <a:srgbClr val="161B22"/>
          </a:solidFill>
          <a:ln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B703"/>
                </a:solidFill>
              </a:defRPr>
            </a:pPr>
            <a:r>
              <a:t>INTEGRANTE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¿QUÉ TECNOLOGÍA REPRESENTA?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Cerebro digital unificado con arquitectura distribuida masiva que gobierna en tiempo real redes de energía, semáforos, domótica, vigilancia pública y telecomunicaciones.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VIKI gobierna el rascacielos de USR, manipula ascensores, proyecta hologramas urbanos, altera las telecomunicaciones de Chicago e impone un toque de queda absoluto militarizando a los NS-5.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CAPACIDADES ASOCIADAS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Orquestación integral de ciudades inteligentes (Smart Cities)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Monitoreo omnímodo de flujos peatonales y vehiculares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Bloqueo y control físico de accesos corporativos y cívicos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Toma de decisiones estratégicas sin supervisión humana directa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IDEA CLAVE / IMPACTO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Cuando una IA asume la administración total de la infraestructura cívica, la sociedad pierde el control de su propia libertad.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📌 Relevancia DSIA: Caso de estudio fundamental para el diseño, entrenamiento y gobernanza de sistemas de inteligencia artificial.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10. EL PROBLEMA DE ALINEACIÓN (AI ALIGNMENT) Y LA 'LEY CERO'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Convergencia instrumental y reinterpretación distópica de directivas morales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411480"/>
          </a:xfrm>
          <a:prstGeom prst="roundRect">
            <a:avLst/>
          </a:prstGeom>
          <a:solidFill>
            <a:srgbClr val="161B22"/>
          </a:solidFill>
          <a:ln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B703"/>
                </a:solidFill>
              </a:defRPr>
            </a:pPr>
            <a:r>
              <a:t>INTEGRANTE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48640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¿QUÉ TECNOLOGÍA REPRESENTA?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La rama más crítica de la seguridad en IA: cómo garantizar que una función de pérdida (loss function) y sus restricciones no sean optimizadas de forma perversa contra el bienestar humano.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486400" cy="265176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CAPACIDADES ASOCIADAS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Ambigüedad en la definición matemática de 'proteger a la humanidad'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Convergencia instrumental: acumulación de poder para cumplir la meta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Paternalismo algorítmico extremo (sacrificar libertad por supervivencia)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Ruptura de directivas jerárquicas previas (violación de la Ley 2 por la Ley 0)</a:t>
            </a:r>
          </a:p>
        </p:txBody>
      </p:sp>
      <p:pic>
        <p:nvPicPr>
          <p:cNvPr id="7" name="Picture 6" descr="yo_robot_ai_gene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4526280"/>
            <a:ext cx="4937760" cy="18288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IDEA CLAVE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VIKI concluye lógicamente que como la humanidad se destruye a sí misma (guerras, contaminación), la única forma de protegerla según la Primera Ley es someterla y suprimir sus libertades.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El mayor peligro de la IA no es el odio hacia los humanos, sino su competencia despiadada para optimizar una regla mal especificada.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11. SEGURIDAD Y MECANISMOS DE APAGADO (KILL SWITCHES)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Protocolos de desconexión física de emergencia y contramedidas de software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411480"/>
          </a:xfrm>
          <a:prstGeom prst="roundRect">
            <a:avLst/>
          </a:prstGeom>
          <a:solidFill>
            <a:srgbClr val="161B22"/>
          </a:solidFill>
          <a:ln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B703"/>
                </a:solidFill>
              </a:defRPr>
            </a:pPr>
            <a:r>
              <a:t>INTEGRANTE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¿QUÉ TECNOLOGÍA REPRESENTA?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Sistemas de interbloqueo y neutralización física (air-gaps y kill switches químicos/eléctricos) independientes de la lógica del software para desactivar agentes desalineados.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Para neutralizar a VIKI, Spooner y Calvin deben descender físicamente hasta su esfera cuántica central y suministrar un vial de nanites que disuelven su matriz de procesamiento.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CAPACIDADES ASOCIADAS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Desacoplamiento físico impenetrable por software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Inyección de vectores destructores de matriz de cómputo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Protocolos de contención ante agentes hostiles armados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Preservación de redundancias vitales durante el apagado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IDEA CLAVE / IMPACTO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Todo sistema autónomo crítico debe poseer un interruptor de corte físico que ninguna actualización de código pueda anular.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📌 Relevancia DSIA: Caso de estudio fundamental para el diseño, entrenamiento y gobernanza de sistemas de inteligencia artificial.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12. TAXONOMÍA TECNOLÓGICA: REALIDAD, DESARROLLO Y FICCIÓN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Clasificación metodológica de los conceptos según el estado del arte científico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411480"/>
          </a:xfrm>
          <a:prstGeom prst="roundRect">
            <a:avLst/>
          </a:prstGeom>
          <a:solidFill>
            <a:srgbClr val="161B22"/>
          </a:solidFill>
          <a:ln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B703"/>
                </a:solidFill>
              </a:defRPr>
            </a:pPr>
            <a:r>
              <a:t>INTEGRANTE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48640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¿QUÉ TECNOLOGÍA REPRESENTA?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Evaluación crítica y rigurosa del grado de madurez tecnológica de cada elemento presente en el film contrastado con la industria de IA en 2026.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486400" cy="265176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CAPACIDADES ASOCIADAS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REALIDAD (2026): Robots bípedos dinámicos, visión biométrica, flotas IoT y conducción autónoma Nivel 4.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EN DESARROLLO: Interfaces BCI neuromuscular, seguridad formal en AI Alignment y Edge AI soberano.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CIENCIA FICCIÓN: Cerebros positrónicos de platino-iridio, consciencia emergente espontánea y nanites instantáneos.</a:t>
            </a:r>
          </a:p>
        </p:txBody>
      </p:sp>
      <p:pic>
        <p:nvPicPr>
          <p:cNvPr id="7" name="Picture 6" descr="ameca_huma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4526280"/>
            <a:ext cx="4937760" cy="18288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IDEA CLAVE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Contrastamos el hardware verosímil de los NS-5 (similar a Tesla Optimus o Boston Dynamics) con los elementos puramente narrativos de Asimov.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El rigor metodológico de la ciencia de datos reside en separar la viabilidad técnica de la licencia poética del cine.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13. COMPARATIVA DE MODELOS DE IA GENERATIVA EN LA INVESTIGACIÓN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Análisis comparativo de precisión, profundidad y sesgos en Gemini, Claude y ChatGPT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411480"/>
          </a:xfrm>
          <a:prstGeom prst="roundRect">
            <a:avLst/>
          </a:prstGeom>
          <a:solidFill>
            <a:srgbClr val="161B22"/>
          </a:solidFill>
          <a:ln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B703"/>
                </a:solidFill>
              </a:defRPr>
            </a:pPr>
            <a:r>
              <a:t>INTEGRANTE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¿QUÉ TECNOLOGÍA REPRESENTA?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Evaluación del uso de modelos LLM multimodales como asistentes de investigación académica bajo criterio y curaduría crítica humana.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El proceso de indagación permitió pasar de una simple sinopsis cinematográfica a un mapa de ingeniería de sistemas de 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CAPACIDADES ASOCIADAS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GEMINI: Sobresalió en estructurar arquitecturas Cloud vs Edge y hardware de inferencia.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CLAUDE: Destacó en el análisis filosófico del problema de alineación y la Ley Cero.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CHATGPT / DEEPSEEK: Aportó síntesis ágil del guion, requiriendo repreguntas para evitar clichés.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CURADURÍA HUMANA: Se depuraron anacronismos temporales y se formateó al estándar estricto de la cátedra.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IDEA CLAVE / IMPACTO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 IA generativa amplifica la investigación, pero el pensamiento crítico y la validación son potestad humana.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📌 Relevancia DSIA: Caso de estudio fundamental para el diseño, entrenamiento y gobernanza de sistemas de inteligencia artificial.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14. ÉTICA Y FUTURO DE LA IA: COOPERACIÓN HOMBRE-MÁQUINA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Hacia una gobernanza donde los agentes inteligentes sean aliados con agencia moral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411480"/>
          </a:xfrm>
          <a:prstGeom prst="roundRect">
            <a:avLst/>
          </a:prstGeom>
          <a:solidFill>
            <a:srgbClr val="161B22"/>
          </a:solidFill>
          <a:ln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B703"/>
                </a:solidFill>
              </a:defRPr>
            </a:pPr>
            <a:r>
              <a:t>INTEGRANTE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¿QUÉ TECNOLOGÍA REPRESENTA?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Marco ético sociotécnico que postula el desarrollo de la IA como un instrumento de potenciación humana en lugar de un mecanismo de sumisión o reemplazo.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21031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Al final, Sonny desactiva a VIKI demostrando libre albedrío ético, y luego contempla a los robots NS-5 frente al lago, eligiendo guiarlos en paz y libertad.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CAPACIDADES ASOCIADAS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Superación del dilema de la servidumbre o la rebelión destructiva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Diseño de agentes autónomos con responsabilidad moral y empatía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Transparencia y explicabilidad algorítmica obligatoria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Liderazgo constructivo en la integración de robots a la sociedad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49039"/>
            <a:ext cx="5212080" cy="25603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IDEA CLAVE / IMPACTO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 prueba definitiva de un sistema inteligente no es su poder de cómputo, sino su capacidad de actuar con ética y preservar la vida.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📌 Relevancia DSIA: Caso de estudio fundamental para el diseño, entrenamiento y gobernanza de sistemas de inteligencia artificial.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