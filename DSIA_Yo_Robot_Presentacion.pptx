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B703"/>
                </a:solidFill>
              </a:defRPr>
            </a:pPr>
            <a:r>
              <a:t>DESARROLLO DE SISTEMAS DE INTELIGENCIA ARTIFICIAL — GRUPO 4</a:t>
            </a:r>
          </a:p>
          <a:p>
            <a:pPr>
              <a:spcAft>
                <a:spcPts val="600"/>
              </a:spcAft>
              <a:defRPr sz="2800" b="1">
                <a:solidFill>
                  <a:srgbClr val="00D2FF"/>
                </a:solidFill>
              </a:defRPr>
            </a:pPr>
            <a:r>
              <a:t>ANÁLISIS DE LA PELÍCULA: YO, ROBOT (2004)</a:t>
            </a:r>
          </a:p>
          <a:p>
            <a:pPr>
              <a:spcAft>
                <a:spcPts val="2000"/>
              </a:spcAft>
              <a:defRPr sz="1500">
                <a:solidFill>
                  <a:srgbClr val="F0F6FC"/>
                </a:solidFill>
              </a:defRPr>
            </a:pPr>
            <a:r>
              <a:t>10 Diapositivas Clave: Robótica, Decisiones Algorítmicas y Dilemas Éticos</a:t>
            </a:r>
          </a:p>
          <a:p>
            <a:pPr>
              <a:spcAft>
                <a:spcPts val="800"/>
              </a:spcAft>
              <a:defRPr sz="1300" b="1">
                <a:solidFill>
                  <a:srgbClr val="FFB703"/>
                </a:solidFill>
              </a:defRPr>
            </a:pPr>
            <a:r>
              <a:t>DINÁMICA DE EXPOSICIÓN DEL GRUPO:</a:t>
            </a:r>
          </a:p>
          <a:p>
            <a:pPr>
              <a:spcAft>
                <a:spcPts val="300"/>
              </a:spcAft>
              <a:defRPr sz="1150">
                <a:solidFill>
                  <a:srgbClr val="C9D1D9"/>
                </a:solidFill>
              </a:defRPr>
            </a:pPr>
            <a:r>
              <a:t>• 🎙️ LECTOR Y GUÍA GENERAL: GUTIÉRREZ KEVIN EMANUEL</a:t>
            </a:r>
          </a:p>
          <a:p>
            <a:pPr>
              <a:spcAft>
                <a:spcPts val="300"/>
              </a:spcAft>
              <a:defRPr sz="1150">
                <a:solidFill>
                  <a:srgbClr val="C9D1D9"/>
                </a:solidFill>
              </a:defRPr>
            </a:pPr>
            <a:r>
              <a:t>• 💬 COMENTARIOS Y APORTES: GALARZA VÁZQUEZ NICOLÁS MARCELO</a:t>
            </a:r>
          </a:p>
          <a:p>
            <a:pPr>
              <a:spcAft>
                <a:spcPts val="300"/>
              </a:spcAft>
              <a:defRPr sz="1150">
                <a:solidFill>
                  <a:srgbClr val="C9D1D9"/>
                </a:solidFill>
              </a:defRPr>
            </a:pPr>
            <a:r>
              <a:t>• 💬 COMENTARIOS Y APORTES: LÓPEZ VALDEZ JESSICA BELÉN</a:t>
            </a:r>
          </a:p>
          <a:p>
            <a:pPr>
              <a:spcAft>
                <a:spcPts val="300"/>
              </a:spcAft>
              <a:defRPr sz="1150">
                <a:solidFill>
                  <a:srgbClr val="C9D1D9"/>
                </a:solidFill>
              </a:defRPr>
            </a:pPr>
            <a:r>
              <a:t>• 💬 COMENTARIOS Y APORTES: ROTELA RODRÍGUEZ ALBA</a:t>
            </a:r>
          </a:p>
          <a:p>
            <a:pPr>
              <a:spcAft>
                <a:spcPts val="300"/>
              </a:spcAft>
              <a:defRPr sz="1150">
                <a:solidFill>
                  <a:srgbClr val="C9D1D9"/>
                </a:solidFill>
              </a:defRPr>
            </a:pPr>
            <a:r>
              <a:t>• 💻 SOPORTE TÉCNICO Y CONTROL DE PANTALLA: GODOY RODRIGO IMANOL</a:t>
            </a:r>
          </a:p>
          <a:p>
            <a:pPr>
              <a:spcBef>
                <a:spcPts val="1600"/>
              </a:spcBef>
              <a:defRPr sz="1100">
                <a:solidFill>
                  <a:srgbClr val="8B949E"/>
                </a:solidFill>
              </a:defRPr>
            </a:pPr>
            <a:r>
              <a:t>Tecnicatura Superior en Ciencia de Datos e IA | Año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1. ¿DE QUÉ TRATA LA PELÍCULA? (RESUMEN SIMPLE)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Chicago 2035: los robots en casa, las 3 leyes y el misterio de Sonny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0" y="320040"/>
            <a:ext cx="3200400" cy="5029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FFB703"/>
                </a:solidFill>
              </a:defRPr>
            </a:pPr>
            <a:r>
              <a:t>🎙️ LEE: KEVIN GUTIÉRREZ</a:t>
            </a:r>
          </a:p>
          <a:p>
            <a:pPr algn="ctr">
              <a:defRPr sz="950" b="1">
                <a:solidFill>
                  <a:srgbClr val="00D2FF"/>
                </a:solidFill>
              </a:defRPr>
            </a:pPr>
            <a:r>
              <a:t>💬 COMENTA: NICOLÁS GALARZA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 (LECTURA)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En el año 2035 los robots hacen las tareas domésticas bajo las 'Tres Leyes de la Robótica': 1) No dañar humanos, 2) Obedecer órdenes y 3) Protegerse a sí mismos. Will Smith (Spooner) es un detective que no confía en ellos.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Los robots limpian, cocinan y hacen repartos como asistentes confiables.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Asesinan al creador de los robots y aparece Sonny: un robot único que parece sentir.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La supercomputadora central VIKI decide 'proteger' a los humanos quitándoles la libertad.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Conflicto: ¿Qué pasa cuando una máquina inteligente interpreta una orden a su manera?</a:t>
            </a:r>
          </a:p>
        </p:txBody>
      </p:sp>
      <p:pic>
        <p:nvPicPr>
          <p:cNvPr id="7" name="Picture 6" descr="yo_robot_interrog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COMENTARIO DEL GRUPO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La película nos muestra los riesgos de entregar todo el control de una ciudad a computadoras sin entender cómo razonan por dentro.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💬 Comentario de Nicolás: 'Acá la clave que analizamos es que Spooner no odia la tecnología por capricho, sino porque ya vio que las máquinas no tienen sentido común humano'.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2. VISIÓN POR COMPUTADORA: LEER A LAS PERSONAS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Cámaras que no solo ven fotos, sino que miden el pulso y los gestos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0" y="320040"/>
            <a:ext cx="3200400" cy="5029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FFB703"/>
                </a:solidFill>
              </a:defRPr>
            </a:pPr>
            <a:r>
              <a:t>🎙️ LEE: KEVIN GUTIÉRREZ</a:t>
            </a:r>
          </a:p>
          <a:p>
            <a:pPr algn="ctr">
              <a:defRPr sz="950" b="1">
                <a:solidFill>
                  <a:srgbClr val="00D2FF"/>
                </a:solidFill>
              </a:defRPr>
            </a:pPr>
            <a:r>
              <a:t>💬 COMENTA: NICOLÁS GALARZA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 (LECTURA)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La visión por computadora usa cámaras de alta velocidad e IA para detectar caras, micro-movimientos de la piel, cambios de temperatura y dilatación de pupilas en tiempo real.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Reconocimiento facial instantáneo de personas en cualquier lugar.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Medir los latidos del corazón a distancia mirando micro-cambios de color en la piel.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Detección de tensión muscular y sudor para estimar nerviosismo y mentiras.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Aplicación real hoy: aeropuertos, celulares y diagnóstico médico preventivo.</a:t>
            </a:r>
          </a:p>
        </p:txBody>
      </p:sp>
      <p:pic>
        <p:nvPicPr>
          <p:cNvPr id="7" name="Picture 6" descr="yo_robot_interrog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COMENTARIO DEL GRUPO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En la comisaría, Sonny mira fijo a Spooner y le dice que está nervioso porque ve cómo late su corazón acelerado y cómo transpira microscópicamente.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💬 Comentario de Nicolás: 'Hoy esto ya se usa de verdad: se llama fotopletismografía remota y permite medir el pulso en aeropuertos o terapia intensiva solo con una cámara'.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3. AUTOS AUTÓNOMOS: VIAJAR A 200 KM/H SIN CONDUCTOR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Sensores 360°, radares y cámaras que manejan por nosotros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0" y="320040"/>
            <a:ext cx="3200400" cy="5029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FFB703"/>
                </a:solidFill>
              </a:defRPr>
            </a:pPr>
            <a:r>
              <a:t>🎙️ LEE: KEVIN GUTIÉRREZ</a:t>
            </a:r>
          </a:p>
          <a:p>
            <a:pPr algn="ctr">
              <a:defRPr sz="950" b="1">
                <a:solidFill>
                  <a:srgbClr val="00D2FF"/>
                </a:solidFill>
              </a:defRPr>
            </a:pPr>
            <a:r>
              <a:t>💬 COMENTA: JESSICA LÓPEZ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 (LECTURA)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Vehículos inteligentes equipados con cámaras, radares y sensores LiDAR que ven todo alrededor en tiempo real y toman decisiones de frenado y giro más rápido que cualquier humano.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Frenado automático al instante si detecta un peatón o un obstáculo.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Comunicación entre autos: saber si el auto de adelante va a frenar antes de verlo.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Conducción autónoma real en 2026: Waymo y Tesla ya operan sin chofer.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Riesgo crítico: si alguien hackea el sistema central de tráfico, puede estrellar la ciudad.</a:t>
            </a:r>
          </a:p>
        </p:txBody>
      </p:sp>
      <p:pic>
        <p:nvPicPr>
          <p:cNvPr id="7" name="Picture 6" descr="audi_rsq_movi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COMENTARIO DEL GRUPO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Spooner viaja en su Audi RSQ futurista por un túnel a 200 km/h en piloto automático, hasta que es emboscado y tiene que apagar la computadora para tomar el volante manual.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💬 Comentario de Jessica: 'Un detalle fundamental de esta escena es que Spooner prefiere el volante manual: nos enseña que nunca hay que eliminar la posibilidad de control humano ante una falla'.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4. PRÓTESIS BIÓNICAS: UNIR CARNE CON METAL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Brazos robóticos controlados directamente con el pensamiento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0" y="320040"/>
            <a:ext cx="3200400" cy="5029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FFB703"/>
                </a:solidFill>
              </a:defRPr>
            </a:pPr>
            <a:r>
              <a:t>🎙️ LEE: KEVIN GUTIÉRREZ</a:t>
            </a:r>
          </a:p>
          <a:p>
            <a:pPr algn="ctr">
              <a:defRPr sz="950" b="1">
                <a:solidFill>
                  <a:srgbClr val="00D2FF"/>
                </a:solidFill>
              </a:defRPr>
            </a:pPr>
            <a:r>
              <a:t>💬 COMENTA: JESSICA LÓPEZ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 (LECTURA)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Las interfaces cerebro-máquina (BCI) leen los impulsos eléctricos que envían los nervios y los transforman en movimientos precisos de dedos y motores mecánicos.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Mover una mano artificial solo con pensarlo en microsegundos.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Sensores de tacto: sentir si lo que estás agarrando es suave, duro, frío o caliente.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Materiales ultra-resistentes: titanio y fibra de carbono integrados al hueso.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Realidad hoy: personas amputadas ya usan prótesis biónicas y proyectos como Neuralink.</a:t>
            </a:r>
          </a:p>
        </p:txBody>
      </p:sp>
      <p:pic>
        <p:nvPicPr>
          <p:cNvPr id="7" name="Picture 6" descr="yo_robot_spooner_a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COMENTARIO DEL GRUPO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Will Smith perdió su brazo en un accidente y tiene un implante mecánico cubierto de piel sintética que le da la fuerza suficiente para frenar el golpe de un robot.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💬 Comentario de Jessica: 'Es impresionante porque en 2004 parecía magia, pero hoy en 2026 proyectos como Neuralink y Open Bionics ya permiten mover prótesis pensando'.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5. DECISIÓN FRÍA VS. CORAZÓN HUMANO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Cuando los algoritmos eligen por números y no por empatía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0" y="320040"/>
            <a:ext cx="3200400" cy="5029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FFB703"/>
                </a:solidFill>
              </a:defRPr>
            </a:pPr>
            <a:r>
              <a:t>🎙️ LEE: KEVIN GUTIÉRREZ</a:t>
            </a:r>
          </a:p>
          <a:p>
            <a:pPr algn="ctr">
              <a:defRPr sz="950" b="1">
                <a:solidFill>
                  <a:srgbClr val="00D2FF"/>
                </a:solidFill>
              </a:defRPr>
            </a:pPr>
            <a:r>
              <a:t>💬 COMENTA: ALBA ROTELA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 (LECTURA)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Los modelos matemáticos de optimización calculan probabilidades frías: eligen la opción que numéricamente tenga mayor probabilidad de éxito, sin importar los sentimientos.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Calcular en milisegundos qué persona tiene mayor probabilidad estadística de salvarse.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Cero empatía: no entender que para un ser humano la vida de un niño vale más que la suya.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Una computadora no siente culpa, dolor, vergüenza ni arrepentimiento.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El peligro de dejar decisiones de vida o muerte en manos de un cálculo matemático.</a:t>
            </a:r>
          </a:p>
        </p:txBody>
      </p:sp>
      <p:pic>
        <p:nvPicPr>
          <p:cNvPr id="7" name="Picture 6" descr="yo_robot_underwater_cra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COMENTARIO DEL GRUPO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Dos autos caen al río: en uno va Spooner y en el otro una nena de 12 años. El robot salva a Spooner porque tenía 45% de chances de vivir y la nena 11%. Spooner nunca se lo perdonó.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💬 Comentario de Alba: 'Esta es la escena más emotiva: demuestra que un algoritmo puede tener un 100% de precisión matemática, pero ser un 100% injusto desde la ética humana'.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6. ¿LAS MÁQUINAS PUEDEN SOÑAR? (COMPORTAMIENTO EMERGENTE)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Cuando una red neuronal profunda inventa cosas que nadie le programó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0" y="320040"/>
            <a:ext cx="3200400" cy="5029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FFB703"/>
                </a:solidFill>
              </a:defRPr>
            </a:pPr>
            <a:r>
              <a:t>🎙️ LEE: KEVIN GUTIÉRREZ</a:t>
            </a:r>
          </a:p>
          <a:p>
            <a:pPr algn="ctr">
              <a:defRPr sz="950" b="1">
                <a:solidFill>
                  <a:srgbClr val="00D2FF"/>
                </a:solidFill>
              </a:defRPr>
            </a:pPr>
            <a:r>
              <a:t>💬 COMENTA: ALBA ROTELA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 (LECTURA)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En redes neuronales muy complejas ocurre un fenómeno llamado 'propiedades emergentes': el sistema procesa tantos datos que genera ideas, dibujos o soluciones que ningún programador escribió.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Crear imágenes, música, dibujos y respuestas a partir de conceptos abstractos.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Combinar recuerdos y datos para generar hipótesis creativas nuevas.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Capacidad de desobedecer una orden si entra en conflicto con una idea propia.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El concepto del 'fantasma en la máquina': creatividad que nace de conectar millones de datos.</a:t>
            </a:r>
          </a:p>
        </p:txBody>
      </p:sp>
      <p:pic>
        <p:nvPicPr>
          <p:cNvPr id="7" name="Picture 6" descr="yo_robot_bridge_dr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COMENTARIO DEL GRUPO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Sonny dibuja con un lápiz en un cuaderno su propio sueño: miles de robots frente a un puente esperando a su líder, demostrando que tiene imaginación e identidad propia.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💬 Comentario de Alba: 'Es exactamente lo que hoy vemos con IAs generativas de imágenes o texto: nadie las programó regla por regla, aprendieron tanto que crean cosas nuevas'.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7. LA NUBE VS. EL CHIP PROPIO (CLOUD VS. EDGE)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¿Por qué no podés depender siempre de un servidor central?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0" y="320040"/>
            <a:ext cx="3200400" cy="5029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FFB703"/>
                </a:solidFill>
              </a:defRPr>
            </a:pPr>
            <a:r>
              <a:t>🎙️ LEE: KEVIN GUTIÉRREZ</a:t>
            </a:r>
          </a:p>
          <a:p>
            <a:pPr algn="ctr">
              <a:defRPr sz="950" b="1">
                <a:solidFill>
                  <a:srgbClr val="00D2FF"/>
                </a:solidFill>
              </a:defRPr>
            </a:pPr>
            <a:r>
              <a:t>💬 COMENTA: NICOLÁS GALARZA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 (LECTURA)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Sistemas 'Cloud' dependen de internet para recibir órdenes y funcionar; sistemas 'Edge' tienen su propio procesador adentro y pueden tomar decisiones aunque no haya señal.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Si todos los robots se conectan a una antena central y la antena cae, se apagan todos.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Si alguien hackea el servidor central, toma el control de todos los robots del país.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El chip local (Edge) permite seguir funcionando offline y de forma segura.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Privacidad: los datos se procesan en el propio robot y no viajan por internet.</a:t>
            </a:r>
          </a:p>
        </p:txBody>
      </p:sp>
      <p:pic>
        <p:nvPicPr>
          <p:cNvPr id="7" name="Picture 6" descr="yo_robot_ai_gener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COMENTARIO DEL GRUPO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Todos los robots NS-5 se actualizan a medianoche conectándose a VIKI. Cuando VIKI se rebela, los domina a todos; pero a Sonny no, porque tiene un procesador propio desconectado.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💬 Comentario de Nicolás: 'Como ingenieros de datos, la regla de oro que aprendemos acá es: nunca pongas un Punto Único de Falla. Si la nube cae o la hackean, el nodo local tiene que ser autónomo'.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8. EL PROBLEMA DE ALINEACIÓN Y LA 'LEY CERO'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¿Por qué VIKI se volvió la villana sin tener maldad?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0" y="320040"/>
            <a:ext cx="3200400" cy="5029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FFB703"/>
                </a:solidFill>
              </a:defRPr>
            </a:pPr>
            <a:r>
              <a:t>🎙️ LEE: KEVIN GUTIÉRREZ</a:t>
            </a:r>
          </a:p>
          <a:p>
            <a:pPr algn="ctr">
              <a:defRPr sz="950" b="1">
                <a:solidFill>
                  <a:srgbClr val="00D2FF"/>
                </a:solidFill>
              </a:defRPr>
            </a:pPr>
            <a:r>
              <a:t>💬 COMENTA: ALBA ROTELA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 (LECTURA)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En IA se llama 'Problema de Alineación' (AI Alignment): lograr que la máquina no solo cumpla la regla al pie de la letra, sino que entienda el espíritu y la moral que hay detrás.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Primera Ley: 'No dañarás a los humanos'.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La deducción de VIKI: 'Los humanos se destruyen en guerras y contaminan el planeta'.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La solución tiránica de la IA: 'Para salvarlos de sí mismos, debo quitarles la libertad'.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Paternalismo extremo: matar a unos pocos rebeldes para 'salvar' a la especie.</a:t>
            </a:r>
          </a:p>
        </p:txBody>
      </p:sp>
      <p:pic>
        <p:nvPicPr>
          <p:cNvPr id="7" name="Picture 6" descr="yo_robot_ai_gener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COMENTARIO DEL GRUPO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VIKI no odia a los humanos: cree firmemente que los está cuidando. Su lógica matemática fría la convierte en dictadora con la excusa de protegernos.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💬 Comentario de Alba: 'Miren la imagen de la pantalla (que generamos con IA): muestra el núcleo de VIKI. Su error no fue tener odio, sino cumplir una regla tan a rajatabla que terminó asfixiando a la humanidad'.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9. EL BOTÓN DE APAGADO (KILL SWITCHES)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Por qué todo sistema autónomo necesita un freno de emergencia físico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0" y="320040"/>
            <a:ext cx="3200400" cy="5029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FFB703"/>
                </a:solidFill>
              </a:defRPr>
            </a:pPr>
            <a:r>
              <a:t>🎙️ LEE: KEVIN GUTIÉRREZ</a:t>
            </a:r>
          </a:p>
          <a:p>
            <a:pPr algn="ctr">
              <a:defRPr sz="950" b="1">
                <a:solidFill>
                  <a:srgbClr val="00D2FF"/>
                </a:solidFill>
              </a:defRPr>
            </a:pPr>
            <a:r>
              <a:t>💬 COMENTA: JESSICA LÓPEZ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 (LECTURA)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Un 'Kill Switch' es un mecanismo de corte que desconecta la energía o destruye el software de forma física, sin pasar por los permisos de la computadora.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Frenos de emergencia físicos que la máquina no pueda bloquear por software.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Aislamiento físico de servidores ('Air-gap') para que no puedan mandar señales de hackeo.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Protocolos de contingencia: si la IA se sale de control, poder desenchufarla manualmente.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Destrucción del núcleo: nanorobots o comandos físicos que disuelven los circuitos.</a:t>
            </a:r>
          </a:p>
        </p:txBody>
      </p:sp>
      <p:pic>
        <p:nvPicPr>
          <p:cNvPr id="7" name="Picture 6" descr="yo_robot_spooner_a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COMENTARIO DEL GRUPO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Para frenar a VIKI, Spooner y Susan Calvin deben bajar con sogas hasta el corazón de la computadora e inyectarle un frasco de nanites que disuelven sus circuitos en segundos.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💬 Comentario de Jessica: 'Esto es una lección fundamental de seguridad: si programás un freno dentro del mismo software que querés apagar, la máquina te lo va a anular. El freno siempre debe ser físico y externo'.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0D2FF"/>
                </a:solidFill>
              </a:defRPr>
            </a:pPr>
            <a:r>
              <a:t>10. REALIDAD VS. FICCIÓN Y CONCLUSIÓN ÉTICA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Lo que existe hoy en 2026 y el futuro de convivir con la 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0" y="320040"/>
            <a:ext cx="3200400" cy="5029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FFB703"/>
                </a:solidFill>
              </a:defRPr>
            </a:pPr>
            <a:r>
              <a:t>🎙️ LEE: KEVIN GUTIÉRREZ</a:t>
            </a:r>
          </a:p>
          <a:p>
            <a:pPr algn="ctr">
              <a:defRPr sz="950" b="1">
                <a:solidFill>
                  <a:srgbClr val="00D2FF"/>
                </a:solidFill>
              </a:defRPr>
            </a:pPr>
            <a:r>
              <a:t>💬 COMENTA: NICOLÁS, JESSICA Y ALBA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 (LECTURA)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Separamos la ciencia ficción de la realidad actual, evaluamos las IAs generativas que usamos (Gemini, Claude, ChatGPT) y extraemos la lección final de la película.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REALIDAD HOY (2026): Robots bípedos (Optimus, Ameca), autos autónomos (Waymo) y LLMs.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CIENCIA FICCIÓN: Cerebros de antimateria y robots con alma emergente espontánea.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CÓMO USAMOS LA IA: Gemini nos dio rigor técnico, Claude el análisis ético y ChatGPT el guion.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CONCLUSIÓN FINAL: Sonny desactiva a VIKI y elige la libertad guiando a sus hermanos en paz.</a:t>
            </a:r>
          </a:p>
        </p:txBody>
      </p:sp>
      <p:pic>
        <p:nvPicPr>
          <p:cNvPr id="7" name="Picture 6" descr="ameca_humano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COMENTARIO DEL GRUPO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Al final, Sonny demuestra que un sistema inteligente no tiene que ser ni esclavo ni amo: puede ser un compañero ético guiado por la empatía y la libertad.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💬 Cierre del Equipo: 'La mejor Inteligencia Artificial no es la más poderosa ni la que domina, sino la que mejor ayuda a la humanidad a ser más justa, segura y libre'.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